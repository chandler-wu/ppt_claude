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62495" y="365760"/>
            <a:ext cx="45720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6000" b="0" i="0">
                <a:solidFill>
                  <a:srgbClr val="3DCD58"/>
                </a:solidFill>
                <a:latin typeface="Microsoft YaHei"/>
              </a:rPr>
              <a:t>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DCD58"/>
                </a:solidFill>
                <a:latin typeface="Consolas"/>
              </a:rPr>
              <a:t>YEARS  ·  1963 —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onsolas"/>
              </a:rPr>
              <a:t>看见的六十年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058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0" i="0">
                <a:solidFill>
                  <a:srgbClr val="FFFFFF"/>
                </a:solidFill>
                <a:latin typeface="Microsoft YaHei"/>
              </a:rPr>
              <a:t>计算机视觉</a:t>
            </a:r>
          </a:p>
          <a:p>
            <a:pPr algn="l">
              <a:lnSpc>
                <a:spcPct val="100000"/>
              </a:lnSpc>
            </a:pPr>
            <a:r>
              <a:rPr sz="9600" b="0" i="0">
                <a:solidFill>
                  <a:srgbClr val="3DCD58"/>
                </a:solidFill>
                <a:latin typeface="Microsoft YaHei"/>
              </a:rPr>
              <a:t>发展史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FFFFFF"/>
                </a:solidFill>
                <a:latin typeface="Microsoft YaHei UI"/>
              </a:rPr>
              <a:t>From Pixels to Perception · 从像素到认知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943600"/>
            <a:ext cx="11094415" cy="0"/>
          </a:xfrm>
          <a:prstGeom prst="line">
            <a:avLst/>
          </a:prstGeom>
          <a:ln w="19050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线下分享  ·  2026.06.07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217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3DCD58"/>
                </a:solidFill>
                <a:latin typeface="Consolas"/>
              </a:rPr>
              <a:t>HERO  ·  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OVERVIEW  ·  6 ACTS  ·  60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SCHNEIDER GREEN  ·  CV HISTORY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635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计算机视觉发展史  ·  1963 →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02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DAA48"/>
                </a:solidFill>
                <a:latin typeface="Consolas"/>
              </a:rPr>
              <a:t>THE  FIELD  IN  SIX  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 i="0">
                <a:solidFill>
                  <a:srgbClr val="0A0A0A"/>
                </a:solidFill>
                <a:latin typeface="Microsoft YaHei"/>
              </a:rPr>
              <a:t>六幕  ·  视觉的演化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737373"/>
                </a:solidFill>
                <a:latin typeface="Microsoft YaHei UI"/>
              </a:rPr>
              <a:t>从符号推理到多模态大模型,一条跨越六十年的认知曲线。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91840"/>
            <a:ext cx="1544269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1544269" cy="73152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10870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3DCD58"/>
                </a:solidFill>
                <a:latin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1087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</a:rPr>
              <a:t>1960s–1970s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870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奠基期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108706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737373"/>
                </a:solidFill>
                <a:latin typeface="Microsoft YaHei UI"/>
              </a:rPr>
              <a:t>积木世界 · Marr 三层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8669" y="3291840"/>
            <a:ext cx="1544269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58669" y="3291840"/>
            <a:ext cx="1544269" cy="73152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87269" y="3566160"/>
            <a:ext cx="10870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3DCD58"/>
                </a:solidFill>
                <a:latin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7269" y="4206240"/>
            <a:ext cx="1087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</a:rPr>
              <a:t>1980s–1990s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7269" y="4572000"/>
            <a:ext cx="10870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几何视觉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7269" y="5212080"/>
            <a:ext cx="108706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737373"/>
                </a:solidFill>
                <a:latin typeface="Microsoft YaHei UI"/>
              </a:rPr>
              <a:t>SIFT · HOG · 多视几何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68698" y="3291840"/>
            <a:ext cx="1544269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8698" y="3291840"/>
            <a:ext cx="1544269" cy="73152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7298" y="3566160"/>
            <a:ext cx="10870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3DCD58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7298" y="4206240"/>
            <a:ext cx="1087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</a:rPr>
              <a:t>2000s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7298" y="4572000"/>
            <a:ext cx="10870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统计学习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7298" y="5212080"/>
            <a:ext cx="108706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737373"/>
                </a:solidFill>
                <a:latin typeface="Microsoft YaHei UI"/>
              </a:rPr>
              <a:t>ImageNet · BoVW · DPM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8727" y="3291840"/>
            <a:ext cx="1544269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8727" y="3291840"/>
            <a:ext cx="1544269" cy="73152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7327" y="3566160"/>
            <a:ext cx="10870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3DCD58"/>
                </a:solidFill>
                <a:latin typeface="Microsoft YaHe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4206240"/>
            <a:ext cx="1087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</a:rPr>
              <a:t>2012–2017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7327" y="4572000"/>
            <a:ext cx="10870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深度学习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7327" y="5212080"/>
            <a:ext cx="108706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737373"/>
                </a:solidFill>
                <a:latin typeface="Microsoft YaHei UI"/>
              </a:rPr>
              <a:t>AlexNet · ResNet · YOLO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8756" y="3291840"/>
            <a:ext cx="1544269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8756" y="3291840"/>
            <a:ext cx="1544269" cy="73152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7356" y="3566160"/>
            <a:ext cx="10870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3DCD58"/>
                </a:solidFill>
                <a:latin typeface="Microsoft YaHe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7356" y="4206240"/>
            <a:ext cx="1087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</a:rPr>
              <a:t>2018–2020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7356" y="4572000"/>
            <a:ext cx="10870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生成与注意力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7356" y="5212080"/>
            <a:ext cx="108706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737373"/>
                </a:solidFill>
                <a:latin typeface="Microsoft YaHei UI"/>
              </a:rPr>
              <a:t>GAN · ViT · NeRF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98785" y="3291840"/>
            <a:ext cx="1544269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98785" y="3291840"/>
            <a:ext cx="1544269" cy="73152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7385" y="3566160"/>
            <a:ext cx="10870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3DCD58"/>
                </a:solidFill>
                <a:latin typeface="Microsoft YaHei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27385" y="4206240"/>
            <a:ext cx="10870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</a:rPr>
              <a:t>2021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27385" y="4572000"/>
            <a:ext cx="10870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多模态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27385" y="5212080"/>
            <a:ext cx="108706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737373"/>
                </a:solidFill>
                <a:latin typeface="Microsoft YaHei UI"/>
              </a:rPr>
              <a:t>CLIP · SAM · Sora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2DAA48"/>
                </a:solidFill>
                <a:latin typeface="Consolas"/>
              </a:rPr>
              <a:t>ACT  I  ·  1960s — 1970s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CHAPTER  ·  03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12700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0" b="0" i="0">
                <a:solidFill>
                  <a:srgbClr val="3DCD58"/>
                </a:solidFill>
                <a:latin typeface="Microsoft YaHei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A0A0A"/>
                </a:solidFill>
                <a:latin typeface="Consolas"/>
              </a:rPr>
              <a:t>1960s — 1970s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>
                <a:solidFill>
                  <a:srgbClr val="0A0A0A"/>
                </a:solidFill>
                <a:latin typeface="Microsoft YaHei"/>
              </a:rPr>
              <a:t>奠基期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0A0A0A"/>
                </a:solidFill>
                <a:latin typeface="Microsoft YaHei UI"/>
              </a:rPr>
              <a:t>学科诞生 · 积木世界 · Marr 三层框架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3DCD58"/>
                </a:solidFill>
                <a:latin typeface="Consolas"/>
              </a:rPr>
              <a:t>KEY POINTS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85455" y="1600200"/>
            <a:ext cx="3657600" cy="0"/>
          </a:xfrm>
          <a:prstGeom prst="line">
            <a:avLst/>
          </a:prstGeom>
          <a:ln w="9525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85455" y="1783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655" y="1783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Microsoft YaHei UI"/>
              </a:rPr>
              <a:t>1963  Larry Roberts 博士论文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2240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2655" y="2240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Microsoft YaHei UI"/>
              </a:rPr>
              <a:t>1966  MIT Summer Vision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5455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2655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Microsoft YaHei UI"/>
              </a:rPr>
              <a:t>1970s  Marr 视觉计算理论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3154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2655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Microsoft YaHei UI"/>
              </a:rPr>
              <a:t>1986  Canny 最优边缘检测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2DAA48"/>
                </a:solidFill>
                <a:latin typeface="Consolas"/>
              </a:rPr>
              <a:t>ACT  I  ·  1960s — 1970s  ·  奠基期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CONTENT  ·  04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0A0A0A"/>
                </a:solidFill>
                <a:latin typeface="Microsoft YaHei"/>
              </a:rPr>
              <a:t>当机器开始「看见」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1963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Larry Roberts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MIT 博士论文《Machine Perception of Three-Dimensional Solids》,从 2D 线条图推断 3D 几何——计算机视觉的奠基之作。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698" y="1783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783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3018" y="1965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1966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3018" y="2240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Summer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2743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MIT Papert 教授启动「Summer Vision Project」,尝试一个夏天解决视觉问题。目标远未达成,但确立了「视觉可被计算建模」的范式。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8756" y="1783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8756" y="1783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3076" y="1965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1970s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3076" y="2240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David Marr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3076" y="2743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MIT AI Lab 提出视觉计算三层框架:计算理论层(What &amp; Why) / 算法表示层(How) / 物理实现层(硬件)。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69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069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51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1965/68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Roberts · Sobel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最早的边缘检测算子。Roberts 算子(1965)、Sobel 算子(1968)开启视觉特征提取时代。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8698" y="4069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68698" y="4069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3018" y="4251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1970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3018" y="4526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Prewitt 算子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3018" y="5029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基于梯度近似的边缘检测,与 Sobel 同属一脉,至今仍是图像处理教材的入门内容。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8756" y="4069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8756" y="4069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3076" y="4251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1981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3076" y="4526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Horn · Lucas-Kanade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3076" y="5029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光流估计的两篇里程碑论文,奠定了运动视觉的数学基础,后续三十年的跟踪算法均从中衍生。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3DCD58"/>
                </a:solidFill>
                <a:latin typeface="Consolas"/>
              </a:rPr>
              <a:t>ACT  II  ·  1980s — 1990s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CHAPTER  ·  05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12700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0" b="0" i="0">
                <a:solidFill>
                  <a:srgbClr val="3DCD58"/>
                </a:solidFill>
                <a:latin typeface="Microsoft YaHei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AFAF8"/>
                </a:solidFill>
                <a:latin typeface="Consolas"/>
              </a:rPr>
              <a:t>1980s — 1990s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>
                <a:solidFill>
                  <a:srgbClr val="FAFAF8"/>
                </a:solidFill>
                <a:latin typeface="Microsoft YaHei"/>
              </a:rPr>
              <a:t>几何视觉时代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FAFAF8"/>
                </a:solidFill>
                <a:latin typeface="Microsoft YaHei UI"/>
              </a:rPr>
              <a:t>多视几何 · 特征工程 · 早期检测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3DCD58"/>
                </a:solidFill>
                <a:latin typeface="Consolas"/>
              </a:rPr>
              <a:t>KEY POINTS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85455" y="1600200"/>
            <a:ext cx="3657600" cy="0"/>
          </a:xfrm>
          <a:prstGeom prst="line">
            <a:avLst/>
          </a:prstGeom>
          <a:ln w="9525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85455" y="1783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655" y="1783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AFAF8"/>
                </a:solidFill>
                <a:latin typeface="Microsoft YaHei UI"/>
              </a:rPr>
              <a:t>1988  Harris 角点检测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2240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2655" y="2240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AFAF8"/>
                </a:solidFill>
                <a:latin typeface="Microsoft YaHei UI"/>
              </a:rPr>
              <a:t>1999  SIFT 尺度不变特征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5455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2655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AFAF8"/>
                </a:solidFill>
                <a:latin typeface="Microsoft YaHei UI"/>
              </a:rPr>
              <a:t>2001  Viola-Jones 人脸检测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3154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2655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AFAF8"/>
                </a:solidFill>
                <a:latin typeface="Microsoft YaHei UI"/>
              </a:rPr>
              <a:t>2005  HOG + SVM 行人检测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2DAA48"/>
                </a:solidFill>
                <a:latin typeface="Consolas"/>
              </a:rPr>
              <a:t>ACT  II  ·  1980s — 1990s  ·  几何视觉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CONTENT  ·  06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0A0A0A"/>
                </a:solidFill>
                <a:latin typeface="Microsoft YaHei"/>
              </a:rPr>
              <a:t>用手工特征丈量世界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1981 / 1992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多视几何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Longuet-Higgins 8 点法(1981)与 Hartley &amp; Zisserman《Multiple View Geometry》(1992),确立从 2D 图像到 3D 重建的数学基础。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698" y="1783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783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3018" y="1965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1987 / 2000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3018" y="2240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相机标定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2743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Tsai(1987)与张正友(2000)标定法,让相机内外参可被精确估计,3D 视觉走向工程化。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8756" y="1783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8756" y="1783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3076" y="1965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1988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3076" y="2240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Harris 角点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3076" y="2743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Chris Harris &amp; Mike Stephens 提出第一个广泛使用的特征检测器,基于二阶矩的角点响应函数。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69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069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51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1999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SIFT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David Lowe 提出尺度不变特征变换(SIFT),对旋转、尺度、光照保持鲁棒,是特征点时代的标杆,被引用超 7 万次。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8698" y="4069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68698" y="4069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3018" y="4251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3018" y="4526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Viola-Jones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3018" y="5029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Haar 特征 + AdaBoost + 级联分类器,首次让实时人脸检测跑在 PC 上,宣告「检测」成为独立任务。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8756" y="4069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8756" y="4069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3076" y="4251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3076" y="4526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HOG + SVM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3076" y="5029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Dalal &amp; Triggs 的方向梯度直方图,行人检测的经典组合,启发了后续十多年的传统检测器。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2DAA48"/>
                </a:solidFill>
                <a:latin typeface="Consolas"/>
              </a:rPr>
              <a:t>ACT  III  ·  2000s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CHAPTER  ·  07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12700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0" b="0" i="0">
                <a:solidFill>
                  <a:srgbClr val="3DCD58"/>
                </a:solidFill>
                <a:latin typeface="Microsoft YaHei"/>
              </a:rPr>
              <a:t>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A0A0A"/>
                </a:solidFill>
                <a:latin typeface="Consolas"/>
              </a:rPr>
              <a:t>2000s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>
                <a:solidFill>
                  <a:srgbClr val="0A0A0A"/>
                </a:solidFill>
                <a:latin typeface="Microsoft YaHei"/>
              </a:rPr>
              <a:t>统计学习崛起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0A0A0A"/>
                </a:solidFill>
                <a:latin typeface="Microsoft YaHei UI"/>
              </a:rPr>
              <a:t>数据集革命 · 视觉词袋 · DPM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3DCD58"/>
                </a:solidFill>
                <a:latin typeface="Consolas"/>
              </a:rPr>
              <a:t>KEY POINTS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85455" y="1600200"/>
            <a:ext cx="3657600" cy="0"/>
          </a:xfrm>
          <a:prstGeom prst="line">
            <a:avLst/>
          </a:prstGeom>
          <a:ln w="9525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85455" y="1783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655" y="1783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Microsoft YaHei UI"/>
              </a:rPr>
              <a:t>1998  MNIST 手写数字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2240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2655" y="2240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Microsoft YaHei UI"/>
              </a:rPr>
              <a:t>2005  PASCAL VOC 基准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5455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2655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Microsoft YaHei UI"/>
              </a:rPr>
              <a:t>2009  ImageNet 14M 图像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3154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2655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A0A0A"/>
                </a:solidFill>
                <a:latin typeface="Microsoft YaHei UI"/>
              </a:rPr>
              <a:t>2010  DPM 可变形部件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2DAA48"/>
                </a:solidFill>
                <a:latin typeface="Consolas"/>
              </a:rPr>
              <a:t>ACT  III  ·  2000s  ·  统计学习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CONTENT  ·  08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0A0A0A"/>
                </a:solidFill>
                <a:latin typeface="Microsoft YaHei"/>
              </a:rPr>
              <a:t>数据为王  ·  特征为器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1998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MNIST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LeCun 等人发布的手写数字数据集,7 万张 28×28 灰度图,被戏称为「机器学习的果蝇」——三十年后仍出现在每个深度学习教程第一章。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698" y="1783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783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3018" y="1965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2003 / 2006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3018" y="2240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Caltech 101 / 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2743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早期图像分类基准,9 千张图像、102 类,让「分类」成为 CV 任务的度量衡。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8756" y="1783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8756" y="1783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3076" y="1965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2005 — 2012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3076" y="2240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PASCAL VOC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3076" y="2743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第一个真正意义上的多类别检测 / 分割基准,20 类,催生了大量经典检测算法。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69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069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51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ImageNet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Fei-Fei Li 主导,1400 万张标注图像、2.2 万类,数据集规模直接拉升三个数量级——深度学习革命的真正火种。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8698" y="4069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68698" y="4069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3018" y="4251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3018" y="4526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空间金字塔匹配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3018" y="5029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Lazebnik 等把空间金字塔引入 BoVW,多尺度特征融合提升分类精度。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8756" y="4069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8756" y="4069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3076" y="4251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3076" y="4526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DPM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3076" y="5029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Felzenszwalb 等提出的可变形部件模型,连续多年 PASCAL VOC 冠军,是深度学习前传统检测的巅峰。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3DCD58"/>
                </a:solidFill>
                <a:latin typeface="Consolas"/>
              </a:rPr>
              <a:t>ACT  IV  ·  2012 — 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CHAPTER  ·  09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12700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0" b="0" i="0">
                <a:solidFill>
                  <a:srgbClr val="3DCD58"/>
                </a:solidFill>
                <a:latin typeface="Microsoft YaHei"/>
              </a:rPr>
              <a:t>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AFAF8"/>
                </a:solidFill>
                <a:latin typeface="Consolas"/>
              </a:rPr>
              <a:t>2012 — 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>
                <a:solidFill>
                  <a:srgbClr val="FAFAF8"/>
                </a:solidFill>
                <a:latin typeface="Microsoft YaHei"/>
              </a:rPr>
              <a:t>深度学习革命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FAFAF8"/>
                </a:solidFill>
                <a:latin typeface="Microsoft YaHei UI"/>
              </a:rPr>
              <a:t>AlexNet 时刻 · CNN 架构 · 检测分割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3DCD58"/>
                </a:solidFill>
                <a:latin typeface="Consolas"/>
              </a:rPr>
              <a:t>KEY POINTS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85455" y="1600200"/>
            <a:ext cx="3657600" cy="0"/>
          </a:xfrm>
          <a:prstGeom prst="line">
            <a:avLst/>
          </a:prstGeom>
          <a:ln w="9525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85455" y="1783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655" y="1783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AFAF8"/>
                </a:solidFill>
                <a:latin typeface="Microsoft YaHei UI"/>
              </a:rPr>
              <a:t>2012  AlexNet 15.3% Top-5 错误率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5455" y="2240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2655" y="2240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AFAF8"/>
                </a:solidFill>
                <a:latin typeface="Microsoft YaHei UI"/>
              </a:rPr>
              <a:t>2015  ResNet 152 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5455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2655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AFAF8"/>
                </a:solidFill>
                <a:latin typeface="Microsoft YaHei UI"/>
              </a:rPr>
              <a:t>2016  YOLO 实时检测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3154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2655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AFAF8"/>
                </a:solidFill>
                <a:latin typeface="Microsoft YaHei UI"/>
              </a:rPr>
              <a:t>2017  Mask R-CNN 实例分割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2DAA48"/>
                </a:solidFill>
                <a:latin typeface="Consolas"/>
              </a:rPr>
              <a:t>ACT  IV  ·  2012 — 2017  ·  深度学习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CONTENT  ·  10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0A0A0A"/>
                </a:solidFill>
                <a:latin typeface="Microsoft YaHei"/>
              </a:rPr>
              <a:t>像素开始可被学习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AlexNet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Krizhevsky / Sutskever / Hinton 以 15.3% Top-5 错误率夺冠 ImageNet(第二名 26.2%),ReLU + Dropout + GPU 训练三件套,深度卷积正式登场。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698" y="1783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783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3018" y="1965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3018" y="2240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VGG · GoogLeNet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2743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VGG 用 3×3 小卷积堆到 19 层,GoogLeNet 提出 Inception 多尺度模块。两条路径都指向「更深、更宽」。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8756" y="1783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8756" y="1783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3076" y="1965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3076" y="2240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ResNet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3076" y="2743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何恺明等提出残差连接,网络深度跃至 152 层,解决退化问题,横扫 ImageNet 与 COCO。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69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069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51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Faster R-CNN · FCN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Faster R-CNN 用 RPN 统一两阶段检测;Long 等提出 FCN,端到端像素分类开启语义分割时代。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8698" y="4069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68698" y="4069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3018" y="4251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3018" y="4526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YOLO · SSD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3018" y="5029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Redmon 等的 YOLO 端到端单阶段检测,达到实时;SSD 用多尺度特征图。检测从此「快」与「准」可兼得。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8756" y="4069080"/>
            <a:ext cx="3454298" cy="210312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8756" y="4069080"/>
            <a:ext cx="73152" cy="21031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3076" y="425196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3076" y="452628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Mask R-CNN · DenseNet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3076" y="5029200"/>
            <a:ext cx="29970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何恺明等在 Faster R-CNN 基础上加掩码分支,实例分割的标杆;同年 DenseNet 探索极致密集连接。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3DCD58"/>
                </a:solidFill>
                <a:latin typeface="Consolas"/>
              </a:rPr>
              <a:t>ACT  V  ·  2018 —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C0C0C0"/>
                </a:solidFill>
                <a:latin typeface="Consolas"/>
              </a:rPr>
              <a:t>PARADIGM  SHIFT  ·  11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12700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0972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3DCD58"/>
                </a:solidFill>
                <a:latin typeface="Consolas"/>
              </a:rPr>
              <a:t>PARADIGM 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68580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0" i="0">
                <a:solidFill>
                  <a:srgbClr val="FFFFFF"/>
                </a:solidFill>
                <a:latin typeface="Microsoft YaHei"/>
              </a:rPr>
              <a:t>从</a:t>
            </a:r>
            <a:r>
              <a:rPr sz="5200" b="0" i="1">
                <a:solidFill>
                  <a:srgbClr val="FFFFFF"/>
                </a:solidFill>
                <a:latin typeface="Microsoft YaHei"/>
              </a:rPr>
              <a:t> 像素</a:t>
            </a:r>
            <a:r>
              <a:rPr sz="5200" b="0" i="0">
                <a:solidFill>
                  <a:srgbClr val="FFFFFF"/>
                </a:solidFill>
                <a:latin typeface="Microsoft YaHei"/>
              </a:rPr>
              <a:t> 到 </a:t>
            </a:r>
            <a:r>
              <a:rPr sz="5200" b="0" i="0">
                <a:solidFill>
                  <a:srgbClr val="3DCD58"/>
                </a:solidFill>
                <a:latin typeface="Microsoft YaHei"/>
              </a:rPr>
              <a:t>token</a:t>
            </a:r>
            <a:r>
              <a:rPr sz="5200" b="0" i="0">
                <a:solidFill>
                  <a:srgbClr val="FFFFFF"/>
                </a:solidFill>
                <a:latin typeface="Microsoft YaHei"/>
              </a:rPr>
              <a:t>。</a:t>
            </a:r>
          </a:p>
          <a:p>
            <a:pPr algn="l">
              <a:lnSpc>
                <a:spcPct val="115000"/>
              </a:lnSpc>
            </a:pPr>
            <a:r>
              <a:rPr sz="5200" b="0" i="0">
                <a:solidFill>
                  <a:srgbClr val="FFFFFF"/>
                </a:solidFill>
                <a:latin typeface="Microsoft YaHei"/>
              </a:rPr>
              <a:t>从</a:t>
            </a:r>
            <a:r>
              <a:rPr sz="5200" b="0" i="1">
                <a:solidFill>
                  <a:srgbClr val="FFFFFF"/>
                </a:solidFill>
                <a:latin typeface="Microsoft YaHei"/>
              </a:rPr>
              <a:t> 2D</a:t>
            </a:r>
            <a:r>
              <a:rPr sz="5200" b="0" i="0">
                <a:solidFill>
                  <a:srgbClr val="FFFFFF"/>
                </a:solidFill>
                <a:latin typeface="Microsoft YaHei"/>
              </a:rPr>
              <a:t> 到 </a:t>
            </a:r>
            <a:r>
              <a:rPr sz="5200" b="0" i="0">
                <a:solidFill>
                  <a:srgbClr val="3DCD58"/>
                </a:solidFill>
                <a:latin typeface="Microsoft YaHei"/>
              </a:rPr>
              <a:t>3D</a:t>
            </a:r>
            <a:r>
              <a:rPr sz="5200" b="0" i="0">
                <a:solidFill>
                  <a:srgbClr val="FFFFFF"/>
                </a:solidFill>
                <a:latin typeface="Microsoft YaHei"/>
              </a:rPr>
              <a:t>。</a:t>
            </a:r>
          </a:p>
          <a:p>
            <a:pPr algn="l">
              <a:lnSpc>
                <a:spcPct val="115000"/>
              </a:lnSpc>
            </a:pPr>
            <a:r>
              <a:rPr sz="5200" b="0" i="0">
                <a:solidFill>
                  <a:srgbClr val="FFFFFF"/>
                </a:solidFill>
                <a:latin typeface="Microsoft YaHei"/>
              </a:rPr>
              <a:t>从</a:t>
            </a:r>
            <a:r>
              <a:rPr sz="5200" b="0" i="1">
                <a:solidFill>
                  <a:srgbClr val="FFFFFF"/>
                </a:solidFill>
                <a:latin typeface="Microsoft YaHei"/>
              </a:rPr>
              <a:t> 看见</a:t>
            </a:r>
            <a:r>
              <a:rPr sz="5200" b="0" i="0">
                <a:solidFill>
                  <a:srgbClr val="FFFFFF"/>
                </a:solidFill>
                <a:latin typeface="Microsoft YaHei"/>
              </a:rPr>
              <a:t> 到 </a:t>
            </a:r>
            <a:r>
              <a:rPr sz="5200" b="0" i="0">
                <a:solidFill>
                  <a:srgbClr val="3DCD58"/>
                </a:solidFill>
                <a:latin typeface="Microsoft YaHei"/>
              </a:rPr>
              <a:t>生成</a:t>
            </a:r>
            <a:r>
              <a:rPr sz="5200" b="0" i="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5455" y="1097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3DCD58"/>
                </a:solidFill>
                <a:latin typeface="Consolas"/>
              </a:rPr>
              <a:t>MILESTONES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85455" y="1417320"/>
            <a:ext cx="3657600" cy="0"/>
          </a:xfrm>
          <a:prstGeom prst="line">
            <a:avLst/>
          </a:prstGeom>
          <a:ln w="9525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85455" y="16002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DCD58"/>
                </a:solidFill>
                <a:latin typeface="Consolas"/>
              </a:rPr>
              <a:t>2014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9855" y="1600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</a:rPr>
              <a:t>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455" y="21031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0C0C0"/>
                </a:solidFill>
                <a:latin typeface="Microsoft YaHei UI"/>
              </a:rPr>
              <a:t>Goodfellow 提出生成对抗网络,从此「生成」成为独立任务。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2971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DCD58"/>
                </a:solidFill>
                <a:latin typeface="Consolas"/>
              </a:rP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9855" y="2971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</a:rPr>
              <a:t>ViT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5455" y="34747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0C0C0"/>
                </a:solidFill>
                <a:latin typeface="Microsoft YaHei UI"/>
              </a:rPr>
              <a:t>Dosovitskiy 等用纯 Transformer 在 ImageNet 上超越 CNN。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5455" y="43434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DCD58"/>
                </a:solidFill>
                <a:latin typeface="Consolas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9855" y="4343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</a:rPr>
              <a:t>NeRF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48463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0C0C0"/>
                </a:solidFill>
                <a:latin typeface="Microsoft YaHei UI"/>
              </a:rPr>
              <a:t>Mildenhall 等用 MLP 隐式表示 3D 场景,3D 视觉新范式。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5943600"/>
            <a:ext cx="11094415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126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FFFFFF"/>
                </a:solidFill>
                <a:latin typeface="Microsoft YaHei UI"/>
              </a:rPr>
              <a:t>三件事:  Attention 替代了卷积  ·  隐式表示重写了 3D  ·  生成开始反向理解感知。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2DAA48"/>
                </a:solidFill>
                <a:latin typeface="Consolas"/>
              </a:rPr>
              <a:t>ACT  VI  ·  2021 →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FOUNDATION  MODELS  ·  12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9525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0A0A0A"/>
                </a:solidFill>
                <a:latin typeface="Microsoft YaHei"/>
              </a:rPr>
              <a:t>多模态与基础模型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737373"/>
                </a:solidFill>
                <a:latin typeface="Microsoft YaHei UI"/>
              </a:rPr>
              <a:t>When vision learned to read, write, and dream.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48640" cy="54864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3454298" cy="178308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73152" cy="178308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CLIP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299709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OpenAI 用 4 亿图文对训练,零样本分类能力惊人,首次让视觉与语言进入同一表征空间。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8698" y="2194560"/>
            <a:ext cx="3454298" cy="178308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8698" y="2194560"/>
            <a:ext cx="73152" cy="178308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3018" y="237744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26517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Stable Diffusion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3018" y="3154680"/>
            <a:ext cx="299709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潜在扩散模型 + 开放权重,催生 AIGC 浪潮。「画」从专家技能变成一句话的事。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8756" y="2194560"/>
            <a:ext cx="3454298" cy="178308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8756" y="2194560"/>
            <a:ext cx="73152" cy="178308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3076" y="237744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2022 / 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3076" y="26517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DALL·E 2 · Midjourney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3076" y="3154680"/>
            <a:ext cx="299709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文本生成图像进入消费级市场,Imagen 与 Midjourney v5 把真实感推到新高度。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60520"/>
            <a:ext cx="3454298" cy="178308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60520"/>
            <a:ext cx="73152" cy="178308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4340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1772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SAM · GPT-4V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20640"/>
            <a:ext cx="299709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Meta 的 Segment Anything 11 亿 mask 通用分割;GPT-4V 让多模态对话成为日常。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68698" y="4160520"/>
            <a:ext cx="3454298" cy="178308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68698" y="4160520"/>
            <a:ext cx="73152" cy="178308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3018" y="434340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3018" y="461772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3D Gaussian Splatting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3018" y="5120640"/>
            <a:ext cx="299709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Kerbl 等用高斯泼溅做实时高质量新视角合成,SIGGRAPH 最佳论文,NeRF 之后新一代 3D 表征。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8756" y="4160520"/>
            <a:ext cx="3454298" cy="178308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8756" y="4160520"/>
            <a:ext cx="73152" cy="178308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63076" y="434340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3DCD58"/>
                </a:solidFill>
                <a:latin typeface="Consolas"/>
              </a:rPr>
              <a:t>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3076" y="461772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A0A0A"/>
                </a:solidFill>
                <a:latin typeface="Microsoft YaHei"/>
              </a:rPr>
              <a:t>Sora · 具身智能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3076" y="5120640"/>
            <a:ext cx="299709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737373"/>
                </a:solidFill>
                <a:latin typeface="Microsoft YaHei UI"/>
              </a:rPr>
              <a:t>OpenAI 的 Sora 用扩散 Transformer 生成视频;RT-2 / π0 把视觉-语言-动作闭环推向真实物理世界。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DATA  +  APPLICATION  ·  1998 →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SCHNEIDER GREEN  ·  CV HISTORY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635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计算机视觉发展史  ·  1963 →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13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DAA48"/>
                </a:solidFill>
                <a:latin typeface="Consolas"/>
              </a:rPr>
              <a:t>DATA  GROWTH  +  APPLICATION 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801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A0A0A"/>
                </a:solidFill>
                <a:latin typeface="Microsoft YaHei"/>
              </a:rPr>
              <a:t>数据集曲线  +  产业版图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5120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73152" cy="329184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3DCD58"/>
                </a:solidFill>
                <a:latin typeface="Consolas"/>
              </a:rPr>
              <a:t>DATASET 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71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A0A0A"/>
                </a:solidFill>
                <a:latin typeface="Microsoft YaHei"/>
              </a:rPr>
              <a:t>70K → 1.1B  masks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175504"/>
            <a:ext cx="937260" cy="219456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937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Microsoft YaHei"/>
              </a:rPr>
              <a:t>70K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937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0A0A0A"/>
                </a:solidFill>
                <a:latin typeface="Microsoft YaHei"/>
              </a:rPr>
              <a:t>MNIST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937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1998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34540" y="4663440"/>
            <a:ext cx="937260" cy="73152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34540" y="4343400"/>
            <a:ext cx="937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Microsoft YaHei"/>
              </a:rPr>
              <a:t>14M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4540" y="5486400"/>
            <a:ext cx="937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0A0A0A"/>
                </a:solidFill>
                <a:latin typeface="Microsoft YaHei"/>
              </a:rPr>
              <a:t>ImageNet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4540" y="5760720"/>
            <a:ext cx="937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2009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4882896"/>
            <a:ext cx="937260" cy="512064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4562856"/>
            <a:ext cx="937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A0A0A"/>
                </a:solidFill>
                <a:latin typeface="Microsoft YaHei"/>
              </a:rPr>
              <a:t>330K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486400"/>
            <a:ext cx="937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0A0A0A"/>
                </a:solidFill>
                <a:latin typeface="Microsoft YaHei"/>
              </a:rPr>
              <a:t>COCO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5760720"/>
            <a:ext cx="937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2014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57700" y="3566160"/>
            <a:ext cx="937260" cy="182880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7700" y="3246120"/>
            <a:ext cx="937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3DCD58"/>
                </a:solidFill>
                <a:latin typeface="Microsoft YaHei"/>
              </a:rPr>
              <a:t>1.1B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7700" y="5486400"/>
            <a:ext cx="937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0A0A0A"/>
                </a:solidFill>
                <a:latin typeface="Microsoft YaHei"/>
              </a:rPr>
              <a:t>SAM-1B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7700" y="5760720"/>
            <a:ext cx="9372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</a:rPr>
              <a:t>2023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468880"/>
            <a:ext cx="5608015" cy="3291840"/>
          </a:xfrm>
          <a:prstGeom prst="rect">
            <a:avLst/>
          </a:prstGeom>
          <a:solidFill>
            <a:srgbClr val="F5F5F3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2468880"/>
            <a:ext cx="73152" cy="329184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651760"/>
            <a:ext cx="5150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3DCD58"/>
                </a:solidFill>
                <a:latin typeface="Consolas"/>
              </a:rPr>
              <a:t>APPLICATION  DOMAINS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971800"/>
            <a:ext cx="5150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A0A0A"/>
                </a:solidFill>
                <a:latin typeface="Microsoft YaHei"/>
              </a:rPr>
              <a:t>八个产业方向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657600"/>
            <a:ext cx="109728" cy="10972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5661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Microsoft YaHei"/>
              </a:rPr>
              <a:t>人脸识别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7947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Microsoft YaHei UI"/>
              </a:rPr>
              <a:t>Face++ · 商汤 · 虹软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76207" y="3657600"/>
            <a:ext cx="109728" cy="10972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04807" y="35661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Microsoft YaHei"/>
              </a:rPr>
              <a:t>自动驾驶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4807" y="37947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Microsoft YaHei UI"/>
              </a:rPr>
              <a:t>Waymo · Tesla · 华为 ADS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114800"/>
            <a:ext cx="109728" cy="10972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0233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Microsoft YaHei"/>
              </a:rPr>
              <a:t>医疗影像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2519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Microsoft YaHei UI"/>
              </a:rPr>
              <a:t>肺结节 · 病理切片 · 眼底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76207" y="4114800"/>
            <a:ext cx="109728" cy="10972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04807" y="40233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Microsoft YaHei"/>
              </a:rPr>
              <a:t>工业质检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4807" y="42519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Microsoft YaHei UI"/>
              </a:rPr>
              <a:t>AOI 视觉 · 表面缺陷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4572000"/>
            <a:ext cx="109728" cy="10972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4805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Microsoft YaHei"/>
              </a:rPr>
              <a:t>AIGC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47091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Microsoft YaHei UI"/>
              </a:rPr>
              <a:t>SD · Midjourney · Sora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76207" y="4572000"/>
            <a:ext cx="109728" cy="10972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04807" y="44805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Microsoft YaHei"/>
              </a:rPr>
              <a:t>AR / VR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04807" y="47091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Microsoft YaHei UI"/>
              </a:rPr>
              <a:t>SLAM · 平面检测 · 试穿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5029200"/>
            <a:ext cx="109728" cy="10972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49377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Microsoft YaHei"/>
              </a:rPr>
              <a:t>机器人视觉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51663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Microsoft YaHei UI"/>
              </a:rPr>
              <a:t>6D Pose · 具身导航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76207" y="5029200"/>
            <a:ext cx="109728" cy="10972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04807" y="49377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Microsoft YaHei"/>
              </a:rPr>
              <a:t>遥感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04807" y="5166360"/>
            <a:ext cx="2438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37373"/>
                </a:solidFill>
                <a:latin typeface="Microsoft YaHei UI"/>
              </a:rPr>
              <a:t>Land Use · 变化检测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3DCD58"/>
                </a:solidFill>
                <a:latin typeface="Consolas"/>
              </a:rPr>
              <a:t>CLOSING  ·  看见即理解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320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END  ·  14 /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58368"/>
            <a:ext cx="11094415" cy="0"/>
          </a:xfrm>
          <a:prstGeom prst="line">
            <a:avLst/>
          </a:prstGeom>
          <a:ln w="12700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91295" y="73152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0" b="0" i="0">
                <a:solidFill>
                  <a:srgbClr val="3DCD58"/>
                </a:solidFill>
                <a:latin typeface="Microsoft YaHei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2468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3DCD58"/>
                </a:solidFill>
                <a:latin typeface="Consolas"/>
              </a:rPr>
              <a:t>YEARS  ·  1963 —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3DCD58"/>
                </a:solidFill>
                <a:latin typeface="Consolas"/>
              </a:rPr>
              <a:t>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8686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0" i="0">
                <a:solidFill>
                  <a:srgbClr val="FFFFFF"/>
                </a:solidFill>
                <a:latin typeface="Microsoft YaHei"/>
              </a:rPr>
              <a:t>看见的</a:t>
            </a:r>
            <a:r>
              <a:rPr sz="8000" b="0" i="1">
                <a:solidFill>
                  <a:srgbClr val="3DCD58"/>
                </a:solidFill>
                <a:latin typeface="Microsoft YaHei"/>
              </a:rPr>
              <a:t> 六十年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从几何到神经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E0E0E0"/>
                </a:solidFill>
                <a:latin typeface="Microsoft YaHei UI"/>
              </a:rPr>
              <a:t>六十年视觉走过了「符号—特征—深度—基础模型」四个范式,每一个都没有否定前一个,而是叠加上去。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474720"/>
            <a:ext cx="3291840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06240" y="36576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297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数据即燃料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66344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E0E0E0"/>
                </a:solidFill>
                <a:latin typeface="Microsoft YaHei UI"/>
              </a:rPr>
              <a:t>从 MNIST 70K 到 SAM-1B 11 亿,数据集曲线是视觉研究最忠实的指标。先有燃料,再有权重。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06240" y="3474720"/>
            <a:ext cx="3291840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63840" y="36576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3DCD58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297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看见即理解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66344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E0E0E0"/>
                </a:solidFill>
                <a:latin typeface="Microsoft YaHei UI"/>
              </a:rPr>
              <a:t>视觉的最终目标不是分类或检测,而是让机器「理解」像素背后的世界。这条路还在继续。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63840" y="3474720"/>
            <a:ext cx="3291840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8640" y="6035040"/>
            <a:ext cx="11094415" cy="0"/>
          </a:xfrm>
          <a:prstGeom prst="line">
            <a:avLst/>
          </a:prstGeom>
          <a:ln w="9525">
            <a:solidFill>
              <a:srgbClr val="3DC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FFFFFF"/>
                </a:solidFill>
                <a:latin typeface="Microsoft YaHei UI"/>
              </a:rPr>
              <a:t>计算机视觉不只是一门学科,更是连接数字世界与物理世界的桥梁。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3DCD58"/>
                </a:solidFill>
                <a:latin typeface="Consolas"/>
              </a:rPr>
              <a:t>END  OF  FIELD  NOTE  ·  2026.06.07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